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94675"/>
  </p:normalViewPr>
  <p:slideViewPr>
    <p:cSldViewPr snapToGrid="0" snapToObjects="1">
      <p:cViewPr>
        <p:scale>
          <a:sx n="128" d="100"/>
          <a:sy n="128" d="100"/>
        </p:scale>
        <p:origin x="184" y="1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27432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651760"/>
            <a:ext cx="12188952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591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93C5FD"/>
                </a:solidFill>
              </a:rPr>
              <a:t>MACHINE LEARNING COURSE PROJECT  ·  SECTION D  ·  TEAM T112  ·  PHASE 1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725912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300" b="1">
                <a:solidFill>
                  <a:srgbClr val="FFFFFF"/>
                </a:solidFill>
              </a:rPr>
              <a:t>Automatic Clothing Category Recognition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7259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E2E8F0"/>
                </a:solidFill>
              </a:rPr>
              <a:t>Inventory Tagging via Handcrafted Features and a Small Convolutional Neural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63240"/>
            <a:ext cx="1072591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1D4ED8"/>
                </a:solidFill>
              </a:rPr>
              <a:t>PROJECT TEAM OWNERSHIP &amp; CORE DELIVERABLES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3364992"/>
          <a:ext cx="1072591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33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188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Member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GitHub Handle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Core Responsibility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Key File Ownership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D4ED8"/>
                          </a:solidFill>
                          <a:latin typeface="Calibri"/>
                        </a:rPr>
                        <a:t>Anant Jain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75569"/>
                          </a:solidFill>
                          <a:latin typeface="Calibri"/>
                        </a:rPr>
                        <a:t>@anantjain-afk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Data Pipeline &amp; Master Synthesis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solidFill>
                            <a:srgbClr val="0F172A"/>
                          </a:solidFill>
                          <a:latin typeface="Calibri"/>
                        </a:rPr>
                        <a:t>src/aml/data.py, </a:t>
                      </a:r>
                      <a:r>
                        <a:rPr sz="1000" dirty="0" err="1">
                          <a:solidFill>
                            <a:srgbClr val="0F172A"/>
                          </a:solidFill>
                          <a:latin typeface="Calibri"/>
                        </a:rPr>
                        <a:t>evaluation.py</a:t>
                      </a:r>
                      <a:r>
                        <a:rPr sz="1000" dirty="0">
                          <a:solidFill>
                            <a:srgbClr val="0F172A"/>
                          </a:solidFill>
                          <a:latin typeface="Calibri"/>
                        </a:rPr>
                        <a:t>, 01_eda.ipynb, 00_master.ipynb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D4ED8"/>
                          </a:solidFill>
                          <a:latin typeface="Calibri"/>
                        </a:rPr>
                        <a:t>Kartik Mehra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75569"/>
                          </a:solidFill>
                          <a:latin typeface="Calibri"/>
                        </a:rPr>
                        <a:t>@KartikMehra22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Feature Engineering (Pixels &amp; HOG)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solidFill>
                            <a:srgbClr val="0F172A"/>
                          </a:solidFill>
                          <a:latin typeface="Calibri"/>
                        </a:rPr>
                        <a:t>src/aml/features.py, 02_features.ipynb, data/cache/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D4ED8"/>
                          </a:solidFill>
                          <a:latin typeface="Calibri"/>
                        </a:rPr>
                        <a:t>Krishna Gehlot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75569"/>
                          </a:solidFill>
                          <a:latin typeface="Calibri"/>
                        </a:rPr>
                        <a:t>@NSTKrishna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Model 1: Logistic Regression &amp; Heatmaps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solidFill>
                            <a:srgbClr val="0F172A"/>
                          </a:solidFill>
                          <a:latin typeface="Calibri"/>
                        </a:rPr>
                        <a:t>src/aml/models/logreg.py, 03_logreg.ipynb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D4ED8"/>
                          </a:solidFill>
                          <a:latin typeface="Calibri"/>
                        </a:rPr>
                        <a:t>Vipul Sharma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75569"/>
                          </a:solidFill>
                          <a:latin typeface="Calibri"/>
                        </a:rPr>
                        <a:t>@vs-code06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Model 2: k-NN &amp; Computational Scaling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solidFill>
                            <a:srgbClr val="0F172A"/>
                          </a:solidFill>
                          <a:latin typeface="Calibri"/>
                        </a:rPr>
                        <a:t>src/aml/models/</a:t>
                      </a:r>
                      <a:r>
                        <a:rPr sz="1000" dirty="0" err="1">
                          <a:solidFill>
                            <a:srgbClr val="0F172A"/>
                          </a:solidFill>
                          <a:latin typeface="Calibri"/>
                        </a:rPr>
                        <a:t>knn.py</a:t>
                      </a:r>
                      <a:r>
                        <a:rPr sz="1000" dirty="0">
                          <a:solidFill>
                            <a:srgbClr val="0F172A"/>
                          </a:solidFill>
                          <a:latin typeface="Calibri"/>
                        </a:rPr>
                        <a:t>, 04_knn.ipynb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D4ED8"/>
                          </a:solidFill>
                          <a:latin typeface="Calibri"/>
                        </a:rPr>
                        <a:t>Aditya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75569"/>
                          </a:solidFill>
                          <a:latin typeface="Calibri"/>
                        </a:rPr>
                        <a:t>@AdityaInnovates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Model 3: Random Forest &amp; Overfitting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solidFill>
                            <a:srgbClr val="0F172A"/>
                          </a:solidFill>
                          <a:latin typeface="Calibri"/>
                        </a:rPr>
                        <a:t>src/aml/models/</a:t>
                      </a:r>
                      <a:r>
                        <a:rPr sz="1000" dirty="0" err="1">
                          <a:solidFill>
                            <a:srgbClr val="0F172A"/>
                          </a:solidFill>
                          <a:latin typeface="Calibri"/>
                        </a:rPr>
                        <a:t>random_forest.py</a:t>
                      </a:r>
                      <a:r>
                        <a:rPr sz="1000" dirty="0">
                          <a:solidFill>
                            <a:srgbClr val="0F172A"/>
                          </a:solidFill>
                          <a:latin typeface="Calibri"/>
                        </a:rPr>
                        <a:t>, 05_rf.ipynb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89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D4ED8"/>
                          </a:solidFill>
                          <a:latin typeface="Calibri"/>
                        </a:rPr>
                        <a:t>Utkarsh Jain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75569"/>
                          </a:solidFill>
                          <a:latin typeface="Calibri"/>
                        </a:rPr>
                        <a:t>@UJ474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Model 4: Linear SVM &amp; Error Analysis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solidFill>
                            <a:srgbClr val="0F172A"/>
                          </a:solidFill>
                          <a:latin typeface="Calibri"/>
                        </a:rPr>
                        <a:t>src/aml/models/</a:t>
                      </a:r>
                      <a:r>
                        <a:rPr sz="1000" dirty="0" err="1">
                          <a:solidFill>
                            <a:srgbClr val="0F172A"/>
                          </a:solidFill>
                          <a:latin typeface="Calibri"/>
                        </a:rPr>
                        <a:t>svm.py</a:t>
                      </a:r>
                      <a:r>
                        <a:rPr sz="1000" dirty="0">
                          <a:solidFill>
                            <a:srgbClr val="0F172A"/>
                          </a:solidFill>
                          <a:latin typeface="Calibri"/>
                        </a:rPr>
                        <a:t>, </a:t>
                      </a:r>
                      <a:r>
                        <a:rPr sz="1000" dirty="0" err="1">
                          <a:solidFill>
                            <a:srgbClr val="0F172A"/>
                          </a:solidFill>
                          <a:latin typeface="Calibri"/>
                        </a:rPr>
                        <a:t>error_analysis.py</a:t>
                      </a:r>
                      <a:r>
                        <a:rPr sz="1000" dirty="0">
                          <a:solidFill>
                            <a:srgbClr val="0F172A"/>
                          </a:solidFill>
                          <a:latin typeface="Calibri"/>
                        </a:rPr>
                        <a:t>, 06_svm.ipynb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4124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dirty="0">
                <a:solidFill>
                  <a:srgbClr val="93C5FD"/>
                </a:solidFill>
                <a:latin typeface="Calibri"/>
              </a:rPr>
              <a:t>IMAGE-TAGGING AML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Calibri"/>
              </a:rPr>
              <a:t>Project Motivation &amp; The Hybrid Research Logic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5166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>
                <a:solidFill>
                  <a:srgbClr val="1D4ED8"/>
                </a:solidFill>
                <a:latin typeface="Calibri"/>
              </a:rPr>
              <a:t>The Industrial Challenge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5166360" cy="1234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150">
                <a:solidFill>
                  <a:srgbClr val="0F172A"/>
                </a:solidFill>
                <a:latin typeface="Calibri"/>
              </a:rPr>
              <a:t>•  E-commerce platforms require real-time, automated tagging for incoming catalog inventory.</a:t>
            </a:r>
          </a:p>
          <a:p>
            <a:pPr>
              <a:spcAft>
                <a:spcPts val="300"/>
              </a:spcAft>
            </a:pPr>
            <a:r>
              <a:rPr sz="1150">
                <a:solidFill>
                  <a:srgbClr val="0F172A"/>
                </a:solidFill>
                <a:latin typeface="Calibri"/>
              </a:rPr>
              <a:t>•  Footwear and Trousers possess clear global silhouettes and achieve 93%+ accuracy.</a:t>
            </a:r>
          </a:p>
          <a:p>
            <a:pPr>
              <a:spcAft>
                <a:spcPts val="300"/>
              </a:spcAft>
            </a:pPr>
            <a:r>
              <a:rPr sz="1150">
                <a:solidFill>
                  <a:srgbClr val="0F172A"/>
                </a:solidFill>
                <a:latin typeface="Calibri"/>
              </a:rPr>
              <a:t>•  Upper-body tops (T-shirts, Shirts, Pullovers, Coats) share identical torso profiles.</a:t>
            </a:r>
          </a:p>
          <a:p>
            <a:pPr>
              <a:spcAft>
                <a:spcPts val="300"/>
              </a:spcAft>
            </a:pPr>
            <a:r>
              <a:rPr sz="1150">
                <a:solidFill>
                  <a:srgbClr val="0F172A"/>
                </a:solidFill>
                <a:latin typeface="Calibri"/>
              </a:rPr>
              <a:t>•  Manual labeling at scale is expensive, error-prone, and causes inventory bottlenecks.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743200"/>
            <a:ext cx="5166360" cy="1463040"/>
          </a:xfrm>
          <a:prstGeom prst="rect">
            <a:avLst/>
          </a:prstGeom>
          <a:solidFill>
            <a:srgbClr val="F1F5F9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2834640"/>
            <a:ext cx="5166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>
                <a:solidFill>
                  <a:srgbClr val="1D4ED8"/>
                </a:solidFill>
                <a:latin typeface="Calibri"/>
              </a:rPr>
              <a:t>Phase 1: Applied ML Baseline (Completed)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154680"/>
            <a:ext cx="4946904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100">
                <a:solidFill>
                  <a:srgbClr val="0F172A"/>
                </a:solidFill>
                <a:latin typeface="Calibri"/>
              </a:rPr>
              <a:t>•  Benchmark 4 model families across 2 feature spaces (784-d Pixels &amp; 324-d HOG).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0F172A"/>
                </a:solidFill>
                <a:latin typeface="Calibri"/>
              </a:rPr>
              <a:t>•  Audited results across 8 configurations on Fashion-MNIST.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0F172A"/>
                </a:solidFill>
                <a:latin typeface="Calibri"/>
              </a:rPr>
              <a:t>•  Mathematically identify 'The Gap' where handcrafted visual descriptors plateau.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343400"/>
            <a:ext cx="5166360" cy="1463040"/>
          </a:xfrm>
          <a:prstGeom prst="rect">
            <a:avLst/>
          </a:prstGeom>
          <a:solidFill>
            <a:srgbClr val="F1F5F9"/>
          </a:solidFill>
          <a:ln w="1270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1248" y="4434840"/>
            <a:ext cx="5166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>
                <a:solidFill>
                  <a:srgbClr val="15803D"/>
                </a:solidFill>
                <a:latin typeface="Calibri"/>
              </a:rPr>
              <a:t>Phase 2: Small CNN Architecture (Next Milestone)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4754880"/>
            <a:ext cx="4946904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100">
                <a:solidFill>
                  <a:srgbClr val="0F172A"/>
                </a:solidFill>
                <a:latin typeface="Calibri"/>
              </a:rPr>
              <a:t>•  Learn 2D local spatial filters (3×3) directly from image neighborhoods.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0F172A"/>
                </a:solidFill>
                <a:latin typeface="Calibri"/>
              </a:rPr>
              <a:t>•  Translation equivariance via weight sharing to isolate collar/button patterns.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0F172A"/>
                </a:solidFill>
                <a:latin typeface="Calibri"/>
              </a:rPr>
              <a:t>•  Directly bridge the 35% upper-body recall chasm exposed by Phase 1.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1072" y="1051560"/>
            <a:ext cx="5166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>
                <a:solidFill>
                  <a:srgbClr val="1D4ED8"/>
                </a:solidFill>
                <a:latin typeface="Calibri"/>
              </a:rPr>
              <a:t>Why Classical Machine Learning First?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91072" y="1289304"/>
            <a:ext cx="5166360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291072" y="1371600"/>
            <a:ext cx="5166360" cy="137160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0" y="1444752"/>
            <a:ext cx="4946904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D4ED8"/>
                </a:solidFill>
              </a:rPr>
              <a:t>Establishing an Audited Baseline Floor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1700784"/>
            <a:ext cx="494690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0F172A"/>
                </a:solidFill>
              </a:rPr>
              <a:t>Jumping straight to deep learning as a black box masks representation failure modes. Benchmarking linear models, tree ensembles, and nearest neighbors provides an interpretable performance baseline.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91072" y="2880360"/>
            <a:ext cx="5166360" cy="137160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0" y="2953512"/>
            <a:ext cx="4946904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D4ED8"/>
                </a:solidFill>
              </a:rPr>
              <a:t>Isolating Representation vs. Classifier Capacity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209544"/>
            <a:ext cx="494690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0F172A"/>
                </a:solidFill>
              </a:rPr>
              <a:t>Testing both raw pixels and HOG gradients across linear and non-linear models proves whether classification errors stem from model underfitting or feature information loss.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91072" y="4389120"/>
            <a:ext cx="5166360" cy="137160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0" y="4462272"/>
            <a:ext cx="4946904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D4ED8"/>
                </a:solidFill>
              </a:rPr>
              <a:t>Standardized Corpus: Fashion-MNIST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718304"/>
            <a:ext cx="494690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0F172A"/>
                </a:solidFill>
              </a:rPr>
              <a:t>Zalando Research's 70,000-image benchmark replaces MNIST with real-world fashion silhouettes, ensuring reproducible and comparable cross-model evaluation.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4124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dirty="0">
                <a:solidFill>
                  <a:srgbClr val="93C5FD"/>
                </a:solidFill>
                <a:latin typeface="Calibri"/>
              </a:rPr>
              <a:t>IMAGE-TAGGING AML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Calibri"/>
              </a:rPr>
              <a:t>Dataset, Data Pipeline &amp; Standardized Evaluation 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5166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>
                <a:solidFill>
                  <a:srgbClr val="1D4ED8"/>
                </a:solidFill>
                <a:latin typeface="Calibri"/>
              </a:rPr>
              <a:t>Fashion-MNIST Dataset Standard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393" y="1308008"/>
            <a:ext cx="516636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150" dirty="0">
                <a:solidFill>
                  <a:srgbClr val="0F172A"/>
                </a:solidFill>
                <a:latin typeface="Calibri"/>
              </a:rPr>
              <a:t>•  Official Zalando Research release: 70,000 grayscale images at 28×28 resolution.</a:t>
            </a:r>
          </a:p>
          <a:p>
            <a:pPr>
              <a:spcAft>
                <a:spcPts val="300"/>
              </a:spcAft>
            </a:pPr>
            <a:r>
              <a:rPr sz="1150" dirty="0">
                <a:solidFill>
                  <a:srgbClr val="0F172A"/>
                </a:solidFill>
                <a:latin typeface="Calibri"/>
              </a:rPr>
              <a:t>•  10 balanced classes (7,000 images each) — eliminates class frequency bias.</a:t>
            </a:r>
          </a:p>
          <a:p>
            <a:pPr>
              <a:spcAft>
                <a:spcPts val="300"/>
              </a:spcAft>
            </a:pPr>
            <a:r>
              <a:rPr sz="1150" dirty="0">
                <a:solidFill>
                  <a:srgbClr val="0F172A"/>
                </a:solidFill>
                <a:latin typeface="Calibri"/>
              </a:rPr>
              <a:t>•  Categories: T-shirt, Trouser, Pullover, Dress, Coat, Sandal, Shirt, Sneaker, Bag, Ankle Boot.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5166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>
                <a:solidFill>
                  <a:srgbClr val="1D4ED8"/>
                </a:solidFill>
                <a:latin typeface="Calibri"/>
              </a:rPr>
              <a:t>Strict Three-Way Split (Zero Test Leakage)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1552412"/>
              </p:ext>
            </p:extLst>
          </p:nvPr>
        </p:nvGraphicFramePr>
        <p:xfrm>
          <a:off x="731393" y="2679192"/>
          <a:ext cx="5166360" cy="114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</a:rPr>
                        <a:t>Split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</a:rPr>
                        <a:t>Samples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</a:rPr>
                        <a:t>Evaluation Purpose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D4ED8"/>
                          </a:solidFill>
                        </a:rPr>
                        <a:t>Training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F172A"/>
                          </a:solidFill>
                        </a:rPr>
                        <a:t>48,000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F172A"/>
                          </a:solidFill>
                        </a:rPr>
                        <a:t>Parameter fitting only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D4ED8"/>
                          </a:solidFill>
                        </a:rPr>
                        <a:t>Validation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F172A"/>
                          </a:solidFill>
                        </a:rPr>
                        <a:t>12,000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F172A"/>
                          </a:solidFill>
                        </a:rPr>
                        <a:t>Stratified hyperparameter tuning (seed=42)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D4ED8"/>
                          </a:solidFill>
                        </a:rPr>
                        <a:t>Test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F172A"/>
                          </a:solidFill>
                        </a:rPr>
                        <a:t>10,000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dirty="0">
                          <a:solidFill>
                            <a:srgbClr val="0F172A"/>
                          </a:solidFill>
                        </a:rPr>
                        <a:t>Held-out set; evaluated strictly ONCE on final fit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31266" y="4233256"/>
            <a:ext cx="5166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>
                <a:solidFill>
                  <a:srgbClr val="1D4ED8"/>
                </a:solidFill>
                <a:latin typeface="Calibri"/>
              </a:rPr>
              <a:t>Standardized Evaluation Metrics (evaluation.py)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393" y="4489288"/>
            <a:ext cx="5166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150" dirty="0">
                <a:solidFill>
                  <a:srgbClr val="0F172A"/>
                </a:solidFill>
                <a:latin typeface="Calibri"/>
              </a:rPr>
              <a:t>•  Overall Accuracy &amp; Macro F1: Treats all 10 categories equally (10% weight each).</a:t>
            </a:r>
          </a:p>
          <a:p>
            <a:pPr>
              <a:spcAft>
                <a:spcPts val="300"/>
              </a:spcAft>
            </a:pPr>
            <a:r>
              <a:rPr sz="1150" dirty="0">
                <a:solidFill>
                  <a:srgbClr val="0F172A"/>
                </a:solidFill>
                <a:latin typeface="Calibri"/>
              </a:rPr>
              <a:t>•  Per-Class Recall: Uncovers catastrophic individual category failures.</a:t>
            </a:r>
          </a:p>
          <a:p>
            <a:pPr>
              <a:spcAft>
                <a:spcPts val="300"/>
              </a:spcAft>
            </a:pPr>
            <a:r>
              <a:rPr sz="1150" dirty="0">
                <a:solidFill>
                  <a:srgbClr val="0F172A"/>
                </a:solidFill>
                <a:latin typeface="Calibri"/>
              </a:rPr>
              <a:t>•  Full 10×10 Confusion Matrix: Reveals bidirectional inter-class confusion clusters.</a:t>
            </a:r>
          </a:p>
          <a:p>
            <a:pPr>
              <a:spcAft>
                <a:spcPts val="300"/>
              </a:spcAft>
            </a:pPr>
            <a:r>
              <a:rPr sz="1150" dirty="0">
                <a:solidFill>
                  <a:srgbClr val="0F172A"/>
                </a:solidFill>
                <a:latin typeface="Calibri"/>
              </a:rPr>
              <a:t>•  Systems Latency &amp; Complexity: Inference time (ms/image) and model parameter footprint.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1072" y="1051560"/>
            <a:ext cx="5166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>
                <a:solidFill>
                  <a:srgbClr val="1D4ED8"/>
                </a:solidFill>
                <a:latin typeface="Calibri"/>
              </a:rPr>
              <a:t>Dataset Mean Archetypes &amp; PCA Projection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91072" y="1289304"/>
            <a:ext cx="5166360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class_mean_and_var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405558"/>
            <a:ext cx="5166360" cy="130368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291072" y="2779776"/>
            <a:ext cx="5166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i="1">
                <a:solidFill>
                  <a:srgbClr val="475569"/>
                </a:solidFill>
              </a:rPr>
              <a:t>Fig 1a: Class Mean (Top) and Variance (Bottom) across all 10 classes</a:t>
            </a:r>
          </a:p>
        </p:txBody>
      </p:sp>
      <p:pic>
        <p:nvPicPr>
          <p:cNvPr id="19" name="Picture 18" descr="pca_2d_proje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3455410"/>
            <a:ext cx="5166360" cy="195885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291072" y="5660136"/>
            <a:ext cx="5166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i="1">
                <a:solidFill>
                  <a:srgbClr val="475569"/>
                </a:solidFill>
              </a:rPr>
              <a:t>Fig 1b: 2D PCA projection showing severe upper-body overlap in linear space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4124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dirty="0">
                <a:solidFill>
                  <a:srgbClr val="93C5FD"/>
                </a:solidFill>
                <a:latin typeface="Calibri"/>
              </a:rPr>
              <a:t>IMAGE-TAGGING AML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Calibri"/>
              </a:rPr>
              <a:t>Feature Engineering: Flattened Pixels (784-d) vs. HOG (324-d)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5166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>
                <a:solidFill>
                  <a:srgbClr val="1D4ED8"/>
                </a:solidFill>
                <a:latin typeface="Calibri"/>
              </a:rPr>
              <a:t>Representation 1: Raw Flattened Pixels (784-d)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51663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100">
                <a:solidFill>
                  <a:srgbClr val="0F172A"/>
                </a:solidFill>
                <a:latin typeface="Calibri"/>
              </a:rPr>
              <a:t>•  Normalised float32 values in [0.0, 1.0] from raw 28×28 grayscale images.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0F172A"/>
                </a:solidFill>
                <a:latin typeface="Calibri"/>
              </a:rPr>
              <a:t>•  Preserves pixel intensities with zero pre-processing computation.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0F172A"/>
                </a:solidFill>
                <a:latin typeface="Calibri"/>
              </a:rPr>
              <a:t>•  Destroys 2D spatial adjacency: pixels (r, c) and (r+1, c) become distant coordinate indices.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0F172A"/>
                </a:solidFill>
                <a:latin typeface="Calibri"/>
              </a:rPr>
              <a:t>•  Zero translation invariance: a 1-pixel shift changes all 784 coordinate values.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51760"/>
            <a:ext cx="5166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>
                <a:solidFill>
                  <a:srgbClr val="1D4ED8"/>
                </a:solidFill>
                <a:latin typeface="Calibri"/>
              </a:rPr>
              <a:t>Representation 2: Histogram of Oriented Gradients (324-d)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971800"/>
            <a:ext cx="51663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100">
                <a:solidFill>
                  <a:srgbClr val="0F172A"/>
                </a:solidFill>
                <a:latin typeface="Calibri"/>
              </a:rPr>
              <a:t>•  Configured with 9 orientation bins, 7×7 px/cell, 2×2 cells/block (L2-Hys normalization).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0F172A"/>
                </a:solidFill>
                <a:latin typeface="Calibri"/>
              </a:rPr>
              <a:t>•  HOG Dimensionality: (28÷7)=4 cells/axis → 3×3 blocks = 9; 9 × (4×9) = 324 features.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0F172A"/>
                </a:solidFill>
                <a:latin typeface="Calibri"/>
              </a:rPr>
              <a:t>•  Achieves 58.7% dimensionality reduction (784 → 324) for faster inference.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0F172A"/>
                </a:solidFill>
                <a:latin typeface="Calibri"/>
              </a:rPr>
              <a:t>•  Captures edge directionality and local shape contours across garment perimeters.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297680"/>
            <a:ext cx="5166360" cy="1645920"/>
          </a:xfrm>
          <a:prstGeom prst="rect">
            <a:avLst/>
          </a:prstGeom>
          <a:solidFill>
            <a:srgbClr val="F1F5F9"/>
          </a:solidFill>
          <a:ln w="1270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1248" y="4389120"/>
            <a:ext cx="5166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>
                <a:solidFill>
                  <a:srgbClr val="B91C1C"/>
                </a:solidFill>
                <a:latin typeface="Calibri"/>
              </a:rPr>
              <a:t>The Handcrafted Representation Ceiling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4709160"/>
            <a:ext cx="4946904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100">
                <a:solidFill>
                  <a:srgbClr val="0F172A"/>
                </a:solidFill>
                <a:latin typeface="Calibri"/>
              </a:rPr>
              <a:t>•  Structured Garments (Trousers, Boots): Sharp 90° and 0° gradient peaks yield clean separation.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0F172A"/>
                </a:solidFill>
                <a:latin typeface="Calibri"/>
              </a:rPr>
              <a:t>•  Upper-Body Tops (Shirt, T-shirt, Coat): Gradient energy is diffuse and isotropic in all directions.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0F172A"/>
                </a:solidFill>
                <a:latin typeface="Calibri"/>
              </a:rPr>
              <a:t>•  Cell Pooling Limit: 7×7 pixel cell pooling smooths away subtle 1–2 px collar and button features.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1051560"/>
            <a:ext cx="5166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dirty="0">
                <a:solidFill>
                  <a:srgbClr val="1D4ED8"/>
                </a:solidFill>
                <a:latin typeface="Calibri"/>
              </a:rPr>
              <a:t>Empirical Gradient Energy Distribution</a:t>
            </a:r>
          </a:p>
        </p:txBody>
      </p:sp>
      <p:pic>
        <p:nvPicPr>
          <p:cNvPr id="18" name="Picture 17" descr="hog_orientation_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387503"/>
            <a:ext cx="5731673" cy="300161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90945" y="4494077"/>
            <a:ext cx="5166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i="1" dirty="0">
                <a:solidFill>
                  <a:srgbClr val="475569"/>
                </a:solidFill>
              </a:rPr>
              <a:t>Fig 2: HOG orientation histograms showing distinct vs. isotropic profiles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-9144" y="0"/>
            <a:ext cx="128016" cy="84124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dirty="0">
                <a:solidFill>
                  <a:srgbClr val="93C5FD"/>
                </a:solidFill>
                <a:latin typeface="Calibri"/>
              </a:rPr>
              <a:t>IMAGE-TAGGING AML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Calibri"/>
              </a:rPr>
              <a:t>Model 1: Multinomial Logistic Regression &amp; Weight Space Interpretability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5166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>
                <a:solidFill>
                  <a:srgbClr val="1D4ED8"/>
                </a:solidFill>
                <a:latin typeface="Calibri"/>
              </a:rPr>
              <a:t>Technical Pipeline &amp; Formulation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5166360" cy="1234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100" dirty="0">
                <a:solidFill>
                  <a:srgbClr val="0F172A"/>
                </a:solidFill>
                <a:latin typeface="Calibri"/>
              </a:rPr>
              <a:t>•  StandardScaler + Multinomial Softmax Logistic Regression (L-BFGS solver).</a:t>
            </a:r>
          </a:p>
          <a:p>
            <a:pPr>
              <a:spcAft>
                <a:spcPts val="300"/>
              </a:spcAft>
            </a:pPr>
            <a:r>
              <a:rPr sz="1100" dirty="0">
                <a:solidFill>
                  <a:srgbClr val="0F172A"/>
                </a:solidFill>
                <a:latin typeface="Calibri"/>
              </a:rPr>
              <a:t>•  Directly minimizes cross-entropy loss over 10 classes (not binary OvR).</a:t>
            </a:r>
          </a:p>
          <a:p>
            <a:pPr>
              <a:spcAft>
                <a:spcPts val="300"/>
              </a:spcAft>
            </a:pPr>
            <a:r>
              <a:rPr sz="1100" dirty="0">
                <a:solidFill>
                  <a:srgbClr val="0F172A"/>
                </a:solidFill>
                <a:latin typeface="Calibri"/>
              </a:rPr>
              <a:t>•  Requires 1,100–1,260 iterations on 48k pixel samples for full convergence (</a:t>
            </a:r>
            <a:r>
              <a:rPr sz="1100" dirty="0" err="1">
                <a:solidFill>
                  <a:srgbClr val="0F172A"/>
                </a:solidFill>
                <a:latin typeface="Calibri"/>
              </a:rPr>
              <a:t>max_iter</a:t>
            </a:r>
            <a:r>
              <a:rPr sz="1100" dirty="0">
                <a:solidFill>
                  <a:srgbClr val="0F172A"/>
                </a:solidFill>
                <a:latin typeface="Calibri"/>
              </a:rPr>
              <a:t>=2000).</a:t>
            </a:r>
          </a:p>
          <a:p>
            <a:pPr>
              <a:spcAft>
                <a:spcPts val="300"/>
              </a:spcAft>
            </a:pPr>
            <a:r>
              <a:rPr sz="1100" dirty="0">
                <a:solidFill>
                  <a:srgbClr val="0F172A"/>
                </a:solidFill>
                <a:latin typeface="Calibri"/>
              </a:rPr>
              <a:t>•  Grid search across C in {0.1, 1.0, 10.0}; winning parameter: C = 1.0 on both feature spaces.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393" y="3072765"/>
            <a:ext cx="5166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>
                <a:solidFill>
                  <a:srgbClr val="1D4ED8"/>
                </a:solidFill>
                <a:latin typeface="Calibri"/>
              </a:rPr>
              <a:t>Test-Set Benchmark Performance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393" y="3392805"/>
            <a:ext cx="1236726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7969" y="3429381"/>
            <a:ext cx="1163574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1">
                <a:solidFill>
                  <a:srgbClr val="475569"/>
                </a:solidFill>
              </a:rPr>
              <a:t>PIXELS ACC</a:t>
            </a:r>
          </a:p>
          <a:p>
            <a:pPr algn="ctr"/>
            <a:r>
              <a:rPr sz="1100" b="1">
                <a:solidFill>
                  <a:srgbClr val="1D4ED8"/>
                </a:solidFill>
              </a:rPr>
              <a:t>84.32%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41271" y="3392805"/>
            <a:ext cx="1236726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077847" y="3429381"/>
            <a:ext cx="1163574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1">
                <a:solidFill>
                  <a:srgbClr val="475569"/>
                </a:solidFill>
              </a:rPr>
              <a:t>HOG ACC</a:t>
            </a:r>
          </a:p>
          <a:p>
            <a:pPr algn="ctr"/>
            <a:r>
              <a:rPr sz="1100" b="1">
                <a:solidFill>
                  <a:srgbClr val="1D4ED8"/>
                </a:solidFill>
              </a:rPr>
              <a:t>84.55%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51149" y="3392805"/>
            <a:ext cx="1236726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387725" y="3429381"/>
            <a:ext cx="1163574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1">
                <a:solidFill>
                  <a:srgbClr val="475569"/>
                </a:solidFill>
              </a:rPr>
              <a:t>SHIRT RECALL</a:t>
            </a:r>
          </a:p>
          <a:p>
            <a:pPr algn="ctr"/>
            <a:r>
              <a:rPr sz="1100" b="1">
                <a:solidFill>
                  <a:srgbClr val="1D4ED8"/>
                </a:solidFill>
              </a:rPr>
              <a:t>57.8%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1027" y="3392805"/>
            <a:ext cx="1236726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697603" y="3429381"/>
            <a:ext cx="1163574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1" dirty="0">
                <a:solidFill>
                  <a:srgbClr val="475569"/>
                </a:solidFill>
              </a:rPr>
              <a:t>LATENCY</a:t>
            </a:r>
          </a:p>
          <a:p>
            <a:pPr algn="ctr"/>
            <a:r>
              <a:rPr sz="1100" b="1" dirty="0">
                <a:solidFill>
                  <a:srgbClr val="15803D"/>
                </a:solidFill>
              </a:rPr>
              <a:t>0.0004 ms 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297871"/>
            <a:ext cx="5166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dirty="0">
                <a:solidFill>
                  <a:srgbClr val="1D4ED8"/>
                </a:solidFill>
                <a:latin typeface="Calibri"/>
              </a:rPr>
              <a:t>Spatial Interpretability (Weight Heatmaps)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9428" y="4718304"/>
            <a:ext cx="516636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100" dirty="0">
                <a:solidFill>
                  <a:srgbClr val="0F172A"/>
                </a:solidFill>
                <a:latin typeface="Calibri"/>
              </a:rPr>
              <a:t>•  Reshaping 784 learned coefficients back into 28×28 grids exposes category templates.</a:t>
            </a:r>
          </a:p>
          <a:p>
            <a:pPr>
              <a:spcAft>
                <a:spcPts val="300"/>
              </a:spcAft>
            </a:pPr>
            <a:r>
              <a:rPr sz="1100" dirty="0">
                <a:solidFill>
                  <a:srgbClr val="0F172A"/>
                </a:solidFill>
                <a:latin typeface="Calibri"/>
              </a:rPr>
              <a:t>•  Positive weights (Red): Define category silhouettes (trouser legs, bag straps).</a:t>
            </a:r>
          </a:p>
          <a:p>
            <a:pPr>
              <a:spcAft>
                <a:spcPts val="300"/>
              </a:spcAft>
            </a:pPr>
            <a:r>
              <a:rPr sz="1100" dirty="0">
                <a:solidFill>
                  <a:srgbClr val="0F172A"/>
                </a:solidFill>
                <a:latin typeface="Calibri"/>
              </a:rPr>
              <a:t>•  Negative weights (Blue): Suppress conflicting regions (e.g. necklines for T-shirts vs Shirts).</a:t>
            </a:r>
          </a:p>
          <a:p>
            <a:pPr>
              <a:spcAft>
                <a:spcPts val="300"/>
              </a:spcAft>
            </a:pPr>
            <a:r>
              <a:rPr sz="1100" dirty="0">
                <a:solidFill>
                  <a:srgbClr val="0F172A"/>
                </a:solidFill>
                <a:latin typeface="Calibri"/>
              </a:rPr>
              <a:t>•  Linear models offer full transparency, but hyperplanes cannot capture multi-modal garments.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1051560"/>
            <a:ext cx="5166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>
                <a:solidFill>
                  <a:srgbClr val="1D4ED8"/>
                </a:solidFill>
                <a:latin typeface="Calibri"/>
              </a:rPr>
              <a:t>Learned Weight Heatmaps &amp; Recall Profile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91072" y="1289304"/>
            <a:ext cx="5166360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pixel_weight_heatm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2497" y="1371600"/>
            <a:ext cx="4803508" cy="16916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291072" y="3099816"/>
            <a:ext cx="5166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i="1">
                <a:solidFill>
                  <a:srgbClr val="475569"/>
                </a:solidFill>
              </a:rPr>
              <a:t>Fig 3a: 28×28 learned coefficient heatmaps across all 10 categories</a:t>
            </a:r>
          </a:p>
        </p:txBody>
      </p:sp>
      <p:pic>
        <p:nvPicPr>
          <p:cNvPr id="26" name="Picture 25" descr="per_class_rec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8091" y="3429000"/>
            <a:ext cx="3432320" cy="233172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291072" y="5797296"/>
            <a:ext cx="5166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i="1">
                <a:solidFill>
                  <a:srgbClr val="475569"/>
                </a:solidFill>
              </a:rPr>
              <a:t>Fig 3b: Per-class recall showing high footwear accuracy vs. depressed shirt recall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4124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dirty="0">
                <a:solidFill>
                  <a:srgbClr val="93C5FD"/>
                </a:solidFill>
                <a:latin typeface="Calibri"/>
              </a:rPr>
              <a:t>IMAGE-TAGGING AML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Calibri"/>
              </a:rPr>
              <a:t>Model 2: k-Nearest Neighbors &amp; Computational Scaling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5166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>
                <a:solidFill>
                  <a:srgbClr val="1D4ED8"/>
                </a:solidFill>
                <a:latin typeface="Calibri"/>
              </a:rPr>
              <a:t>Technical Pipeline &amp; Configuration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89304"/>
            <a:ext cx="5166360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516636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100">
                <a:solidFill>
                  <a:srgbClr val="0F172A"/>
                </a:solidFill>
                <a:latin typeface="Calibri"/>
              </a:rPr>
              <a:t>•  KNeighborsClassifier using Euclidean metric and brute-force scanning.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0F172A"/>
                </a:solidFill>
                <a:latin typeface="Calibri"/>
              </a:rPr>
              <a:t>•  Batched chunk prediction (batch_size=500) prevents RAM exhaustion at 60k exemplars.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0F172A"/>
                </a:solidFill>
                <a:latin typeface="Calibri"/>
              </a:rPr>
              <a:t>•  Grid tuning over k in {3, 5, 7, 9} and weighting schemes (uniform vs. distance).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0F172A"/>
                </a:solidFill>
                <a:latin typeface="Calibri"/>
              </a:rPr>
              <a:t>•  Winners: k=5, distance-weighted (Pixels)  |  k=9, distance-weighted (HOG).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393" y="2724668"/>
            <a:ext cx="5166360" cy="914400"/>
          </a:xfrm>
          <a:prstGeom prst="rect">
            <a:avLst/>
          </a:prstGeom>
          <a:solidFill>
            <a:srgbClr val="F1F5F9"/>
          </a:solidFill>
          <a:ln w="1270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121" y="2797820"/>
            <a:ext cx="5166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>
                <a:solidFill>
                  <a:srgbClr val="15803D"/>
                </a:solidFill>
                <a:latin typeface="Calibri"/>
              </a:rPr>
              <a:t>64.2% Latency Speedup &amp; 58.7% RAM Savings via HOG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418" y="3026420"/>
            <a:ext cx="49469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dirty="0"/>
              <a:t>HOG reduces per-image latency from 0.274 ms to 0.098 </a:t>
            </a:r>
            <a:r>
              <a:rPr sz="1050" dirty="0" err="1"/>
              <a:t>ms.</a:t>
            </a:r>
            <a:r>
              <a:rPr sz="1050" dirty="0"/>
              <a:t> Storing 60k training exemplars in memory requires 74.16 MiB for HOG vs. 179.44 MiB for Pixels.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393" y="3730508"/>
            <a:ext cx="5166360" cy="1005840"/>
          </a:xfrm>
          <a:prstGeom prst="rect">
            <a:avLst/>
          </a:prstGeom>
          <a:solidFill>
            <a:srgbClr val="F1F5F9"/>
          </a:solidFill>
          <a:ln w="1270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1121" y="3803660"/>
            <a:ext cx="5166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>
                <a:solidFill>
                  <a:srgbClr val="B91C1C"/>
                </a:solidFill>
                <a:latin typeface="Calibri"/>
              </a:rPr>
              <a:t>Curse of Dimensionality &amp; O(N·d) Production Bottleneck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121" y="4050548"/>
            <a:ext cx="49469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/>
              <a:t>In 784-d Euclidean space, distance vectors concentrate. Calculating 60,000 distance pairs per query makes k-NN 450× slower than Linear SVM — infeasible for high-throughput catalogs.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393" y="5266319"/>
            <a:ext cx="5166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>
                <a:solidFill>
                  <a:srgbClr val="1D4ED8"/>
                </a:solidFill>
                <a:latin typeface="Calibri"/>
              </a:rPr>
              <a:t>Test-Set Results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393" y="5504063"/>
            <a:ext cx="5166360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31393" y="5586358"/>
            <a:ext cx="1236726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67969" y="5622934"/>
            <a:ext cx="1163574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1">
                <a:solidFill>
                  <a:srgbClr val="475569"/>
                </a:solidFill>
              </a:rPr>
              <a:t>PIXELS ACC</a:t>
            </a:r>
          </a:p>
          <a:p>
            <a:pPr algn="ctr"/>
            <a:r>
              <a:rPr sz="1100" b="1">
                <a:solidFill>
                  <a:srgbClr val="1D4ED8"/>
                </a:solidFill>
              </a:rPr>
              <a:t>85.41%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41271" y="5586358"/>
            <a:ext cx="1236726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077847" y="5622934"/>
            <a:ext cx="1163574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1">
                <a:solidFill>
                  <a:srgbClr val="475569"/>
                </a:solidFill>
              </a:rPr>
              <a:t>HOG ACC</a:t>
            </a:r>
          </a:p>
          <a:p>
            <a:pPr algn="ctr"/>
            <a:r>
              <a:rPr sz="1100" b="1">
                <a:solidFill>
                  <a:srgbClr val="1D4ED8"/>
                </a:solidFill>
              </a:rPr>
              <a:t>83.84%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51149" y="5586358"/>
            <a:ext cx="1236726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387725" y="5622934"/>
            <a:ext cx="1163574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1" dirty="0">
                <a:solidFill>
                  <a:srgbClr val="475569"/>
                </a:solidFill>
              </a:rPr>
              <a:t>SHIRT RECALL</a:t>
            </a:r>
          </a:p>
          <a:p>
            <a:pPr algn="ctr"/>
            <a:r>
              <a:rPr sz="1100" b="1" dirty="0">
                <a:solidFill>
                  <a:srgbClr val="15803D"/>
                </a:solidFill>
              </a:rPr>
              <a:t>62.6% 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61027" y="5586358"/>
            <a:ext cx="1236726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97603" y="5622934"/>
            <a:ext cx="1163574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1" dirty="0">
                <a:solidFill>
                  <a:srgbClr val="475569"/>
                </a:solidFill>
              </a:rPr>
              <a:t>LATENCY</a:t>
            </a:r>
          </a:p>
          <a:p>
            <a:pPr algn="ctr"/>
            <a:r>
              <a:rPr sz="1100" b="1" dirty="0">
                <a:solidFill>
                  <a:srgbClr val="1D4ED8"/>
                </a:solidFill>
              </a:rPr>
              <a:t>0.098 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91072" y="1051560"/>
            <a:ext cx="5166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>
                <a:solidFill>
                  <a:srgbClr val="1D4ED8"/>
                </a:solidFill>
                <a:latin typeface="Calibri"/>
              </a:rPr>
              <a:t>Empirical Scaling &amp; Parameter Tuning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91072" y="1289304"/>
            <a:ext cx="5166360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latenc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454875"/>
            <a:ext cx="5166360" cy="184512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91072" y="3419856"/>
            <a:ext cx="5166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i="1">
                <a:solidFill>
                  <a:srgbClr val="475569"/>
                </a:solidFill>
              </a:rPr>
              <a:t>Fig 4a: k-NN inference latency scaling across query batch sizes (log-log scale)</a:t>
            </a:r>
          </a:p>
        </p:txBody>
      </p:sp>
      <p:pic>
        <p:nvPicPr>
          <p:cNvPr id="31" name="Picture 30" descr="knn_tuning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3784209"/>
            <a:ext cx="5166360" cy="1987061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291072" y="5888736"/>
            <a:ext cx="5166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i="1">
                <a:solidFill>
                  <a:srgbClr val="475569"/>
                </a:solidFill>
              </a:rPr>
              <a:t>Fig 4b: Validation Macro F1 across neighbor count k and weighting schemes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4124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dirty="0">
                <a:solidFill>
                  <a:srgbClr val="93C5FD"/>
                </a:solidFill>
                <a:latin typeface="Calibri"/>
              </a:rPr>
              <a:t>IMAGE-TAGGING AML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Calibri"/>
              </a:rPr>
              <a:t>Model 3: Random Forest Classifier — Overfitting Dynamics &amp; Tree 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5166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>
                <a:solidFill>
                  <a:srgbClr val="1D4ED8"/>
                </a:solidFill>
                <a:latin typeface="Calibri"/>
              </a:rPr>
              <a:t>Technical Pipeline &amp; Configuration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516636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100">
                <a:solidFill>
                  <a:srgbClr val="0F172A"/>
                </a:solidFill>
                <a:latin typeface="Calibri"/>
              </a:rPr>
              <a:t>•  Multi-threaded RandomForestClassifier (n_jobs=-1) using 200 tree estimators.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0F172A"/>
                </a:solidFill>
                <a:latin typeface="Calibri"/>
              </a:rPr>
              <a:t>•  2D hyperparameter grid: n_estimators in {50, 100, 200} × max_depth in {10, 20, None}.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0F172A"/>
                </a:solidFill>
                <a:latin typeface="Calibri"/>
              </a:rPr>
              <a:t>•  Winning configuration: n_estimators=200, max_depth=20 (depth-constrained).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393" y="2458647"/>
            <a:ext cx="5166360" cy="1463040"/>
          </a:xfrm>
          <a:prstGeom prst="rect">
            <a:avLst/>
          </a:prstGeom>
          <a:solidFill>
            <a:srgbClr val="F1F5F9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121" y="2531799"/>
            <a:ext cx="5166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>
                <a:solidFill>
                  <a:srgbClr val="1D4ED8"/>
                </a:solidFill>
                <a:latin typeface="Calibri"/>
              </a:rPr>
              <a:t>Overfitting Dynamics &amp; Feature Dynamics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121" y="2806119"/>
            <a:ext cx="4946904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050">
                <a:solidFill>
                  <a:srgbClr val="0F172A"/>
                </a:solidFill>
                <a:latin typeface="Calibri"/>
              </a:rPr>
              <a:t>•  max_depth=None memorizes 100% of training split (&gt;2.5M nodes), but val F1 plateaus.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0F172A"/>
                </a:solidFill>
                <a:latin typeface="Calibri"/>
              </a:rPr>
              <a:t>•  Constraining max_depth=20 controls variance, yielding Phase 1 top accuracy: 87.43% Acc.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0F172A"/>
                </a:solidFill>
                <a:latin typeface="Calibri"/>
              </a:rPr>
              <a:t>•  Why Pixels &gt; HOG (87.4% vs 84.4%): Trees exploit crisp threshold splits on raw pixels.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4114" y="4325112"/>
            <a:ext cx="5166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dirty="0">
                <a:solidFill>
                  <a:srgbClr val="1D4ED8"/>
                </a:solidFill>
                <a:latin typeface="Calibri"/>
              </a:rPr>
              <a:t>Gini Impurity Feature Importance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393" y="4652119"/>
            <a:ext cx="516636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100">
                <a:solidFill>
                  <a:srgbClr val="0F172A"/>
                </a:solidFill>
                <a:latin typeface="Calibri"/>
              </a:rPr>
              <a:t>•  Mapping Gini importances back to 28×28 grids shows splits concentrate on outer boundaries.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0F172A"/>
                </a:solidFill>
                <a:latin typeface="Calibri"/>
              </a:rPr>
              <a:t>•  Shoulder angles, hem lines, and outer contours receive the majority of tree splits.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0F172A"/>
                </a:solidFill>
                <a:latin typeface="Calibri"/>
              </a:rPr>
              <a:t>•  Interior button and collar details receive virtually zero splits, capping Shirt recall at 59.3%.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393" y="5703679"/>
            <a:ext cx="5166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>
                <a:solidFill>
                  <a:srgbClr val="1D4ED8"/>
                </a:solidFill>
                <a:latin typeface="Calibri"/>
              </a:rPr>
              <a:t>Test-Set Results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393" y="5941423"/>
            <a:ext cx="5166360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31393" y="6023719"/>
            <a:ext cx="1236726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7969" y="6060295"/>
            <a:ext cx="1163574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1">
                <a:solidFill>
                  <a:srgbClr val="475569"/>
                </a:solidFill>
              </a:rPr>
              <a:t>PIXELS ACC</a:t>
            </a:r>
          </a:p>
          <a:p>
            <a:pPr algn="ctr"/>
            <a:r>
              <a:rPr sz="1100" b="1">
                <a:solidFill>
                  <a:srgbClr val="15803D"/>
                </a:solidFill>
              </a:rPr>
              <a:t>87.43% 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41271" y="6023719"/>
            <a:ext cx="1236726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077847" y="6060295"/>
            <a:ext cx="1163574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1">
                <a:solidFill>
                  <a:srgbClr val="475569"/>
                </a:solidFill>
              </a:rPr>
              <a:t>MACRO F1</a:t>
            </a:r>
          </a:p>
          <a:p>
            <a:pPr algn="ctr"/>
            <a:r>
              <a:rPr sz="1100" b="1">
                <a:solidFill>
                  <a:srgbClr val="15803D"/>
                </a:solidFill>
              </a:rPr>
              <a:t>87.31% 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51149" y="6023719"/>
            <a:ext cx="1236726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387725" y="6060295"/>
            <a:ext cx="1163574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1">
                <a:solidFill>
                  <a:srgbClr val="475569"/>
                </a:solidFill>
              </a:rPr>
              <a:t>SHIRT RECALL</a:t>
            </a:r>
          </a:p>
          <a:p>
            <a:pPr algn="ctr"/>
            <a:r>
              <a:rPr sz="1100" b="1">
                <a:solidFill>
                  <a:srgbClr val="1D4ED8"/>
                </a:solidFill>
              </a:rPr>
              <a:t>59.3%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61027" y="6023719"/>
            <a:ext cx="1236726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697603" y="6060295"/>
            <a:ext cx="1163574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1" dirty="0">
                <a:solidFill>
                  <a:srgbClr val="475569"/>
                </a:solidFill>
              </a:rPr>
              <a:t>LATENCY</a:t>
            </a:r>
          </a:p>
          <a:p>
            <a:pPr algn="ctr"/>
            <a:r>
              <a:rPr sz="1100" b="1" dirty="0">
                <a:solidFill>
                  <a:srgbClr val="1D4ED8"/>
                </a:solidFill>
              </a:rPr>
              <a:t>0.026 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91072" y="1051560"/>
            <a:ext cx="5166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>
                <a:solidFill>
                  <a:srgbClr val="1D4ED8"/>
                </a:solidFill>
                <a:latin typeface="Calibri"/>
              </a:rPr>
              <a:t>Overfitting Curves &amp; Gini Importance Map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91072" y="1289304"/>
            <a:ext cx="5166360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overfitt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6917" y="1371600"/>
            <a:ext cx="4934668" cy="20116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291072" y="3419856"/>
            <a:ext cx="5166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i="1">
                <a:solidFill>
                  <a:srgbClr val="475569"/>
                </a:solidFill>
              </a:rPr>
              <a:t>Fig 5a: Train vs. Val F1 curves showing tree depth memorization plateau</a:t>
            </a:r>
          </a:p>
        </p:txBody>
      </p:sp>
      <p:pic>
        <p:nvPicPr>
          <p:cNvPr id="30" name="Picture 29" descr="pixel_importance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2944" y="3703320"/>
            <a:ext cx="2542614" cy="21488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291072" y="5888736"/>
            <a:ext cx="5166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i="1">
                <a:solidFill>
                  <a:srgbClr val="475569"/>
                </a:solidFill>
              </a:rPr>
              <a:t>Fig 5b: 28×28 Gini feature importance heatmap showing perimeter concentration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4124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dirty="0">
                <a:solidFill>
                  <a:srgbClr val="93C5FD"/>
                </a:solidFill>
                <a:latin typeface="Calibri"/>
              </a:rPr>
              <a:t>IMAGE-TAGGING AML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Calibri"/>
              </a:rPr>
              <a:t>Model 4: Linear Support Vector Machine — Maximum-Margin Baseline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5166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>
                <a:solidFill>
                  <a:srgbClr val="1D4ED8"/>
                </a:solidFill>
                <a:latin typeface="Calibri"/>
              </a:rPr>
              <a:t>Technical Pipeline &amp; Formulation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516636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100" dirty="0">
                <a:solidFill>
                  <a:srgbClr val="0F172A"/>
                </a:solidFill>
                <a:latin typeface="Calibri"/>
              </a:rPr>
              <a:t>•  </a:t>
            </a:r>
            <a:r>
              <a:rPr sz="1100" dirty="0" err="1">
                <a:solidFill>
                  <a:srgbClr val="0F172A"/>
                </a:solidFill>
                <a:latin typeface="Calibri"/>
              </a:rPr>
              <a:t>LinearSVC</a:t>
            </a:r>
            <a:r>
              <a:rPr sz="1100" dirty="0">
                <a:solidFill>
                  <a:srgbClr val="0F172A"/>
                </a:solidFill>
                <a:latin typeface="Calibri"/>
              </a:rPr>
              <a:t>(dual='auto', </a:t>
            </a:r>
            <a:r>
              <a:rPr sz="1100" dirty="0" err="1">
                <a:solidFill>
                  <a:srgbClr val="0F172A"/>
                </a:solidFill>
                <a:latin typeface="Calibri"/>
              </a:rPr>
              <a:t>max_iter</a:t>
            </a:r>
            <a:r>
              <a:rPr sz="1100" dirty="0">
                <a:solidFill>
                  <a:srgbClr val="0F172A"/>
                </a:solidFill>
                <a:latin typeface="Calibri"/>
              </a:rPr>
              <a:t>=2000) optimizing hinge loss with L2 regularization.</a:t>
            </a:r>
          </a:p>
          <a:p>
            <a:pPr>
              <a:spcAft>
                <a:spcPts val="300"/>
              </a:spcAft>
            </a:pPr>
            <a:r>
              <a:rPr sz="1100" dirty="0">
                <a:solidFill>
                  <a:srgbClr val="0F172A"/>
                </a:solidFill>
                <a:latin typeface="Calibri"/>
              </a:rPr>
              <a:t>•  StandardScaler(</a:t>
            </a:r>
            <a:r>
              <a:rPr sz="1100" dirty="0" err="1">
                <a:solidFill>
                  <a:srgbClr val="0F172A"/>
                </a:solidFill>
                <a:latin typeface="Calibri"/>
              </a:rPr>
              <a:t>with_mean</a:t>
            </a:r>
            <a:r>
              <a:rPr sz="1100" dirty="0">
                <a:solidFill>
                  <a:srgbClr val="0F172A"/>
                </a:solidFill>
                <a:latin typeface="Calibri"/>
              </a:rPr>
              <a:t>=False) preserves sparsity and prevents test data leakage.</a:t>
            </a:r>
          </a:p>
          <a:p>
            <a:pPr>
              <a:spcAft>
                <a:spcPts val="300"/>
              </a:spcAft>
            </a:pPr>
            <a:r>
              <a:rPr sz="1100" dirty="0">
                <a:solidFill>
                  <a:srgbClr val="0F172A"/>
                </a:solidFill>
                <a:latin typeface="Calibri"/>
              </a:rPr>
              <a:t>•  Grid search across C in {0.1, 1.0, 10.0}; winning parameter: C = 0.1 (stronger regularization).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393" y="2560320"/>
            <a:ext cx="5166360" cy="1097280"/>
          </a:xfrm>
          <a:prstGeom prst="rect">
            <a:avLst/>
          </a:prstGeom>
          <a:solidFill>
            <a:srgbClr val="F1F5F9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121" y="2633472"/>
            <a:ext cx="5166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dirty="0">
                <a:solidFill>
                  <a:srgbClr val="1D4ED8"/>
                </a:solidFill>
                <a:latin typeface="Calibri"/>
              </a:rPr>
              <a:t>One-vs-Rest (OvR) Formulation &amp; Millisecond Efficiency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121" y="2907792"/>
            <a:ext cx="494690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dirty="0"/>
              <a:t>OvR trains 10 independent binary hyperplanes. At inference, prediction requires only a single matrix multiply (W·x + b), achieving 0.0006 ms/image on HOG — over 450× faster than k-NN and 43× faster than Random Forest.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393" y="3749040"/>
            <a:ext cx="5166360" cy="1143000"/>
          </a:xfrm>
          <a:prstGeom prst="rect">
            <a:avLst/>
          </a:prstGeom>
          <a:solidFill>
            <a:srgbClr val="F1F5F9"/>
          </a:solidFill>
          <a:ln w="1270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1121" y="3822192"/>
            <a:ext cx="5166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>
                <a:solidFill>
                  <a:srgbClr val="B91C1C"/>
                </a:solidFill>
                <a:latin typeface="Calibri"/>
              </a:rPr>
              <a:t>The Margin Ceiling: Why Maximum Margin Fails on Shirts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121" y="4114800"/>
            <a:ext cx="494690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dirty="0"/>
              <a:t>Linear SVM exhibits the lowest Shirt recall in the entire benchmark (50.7% on Pixels). Maximizing hyperplanes cannot separate classes whose coordinate distributions physically overlap. Without non-linear curvature, flat decision planes misclassify 41% of shirts.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393" y="5358384"/>
            <a:ext cx="5166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>
                <a:solidFill>
                  <a:srgbClr val="1D4ED8"/>
                </a:solidFill>
                <a:latin typeface="Calibri"/>
              </a:rPr>
              <a:t>Test-Set Results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393" y="5678424"/>
            <a:ext cx="1236726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67969" y="5715000"/>
            <a:ext cx="1163574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1">
                <a:solidFill>
                  <a:srgbClr val="475569"/>
                </a:solidFill>
              </a:rPr>
              <a:t>PIXELS ACC</a:t>
            </a:r>
          </a:p>
          <a:p>
            <a:pPr algn="ctr"/>
            <a:r>
              <a:rPr sz="1100" b="1">
                <a:solidFill>
                  <a:srgbClr val="1D4ED8"/>
                </a:solidFill>
              </a:rPr>
              <a:t>83.80%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41271" y="5678424"/>
            <a:ext cx="1236726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077847" y="5715000"/>
            <a:ext cx="1163574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1">
                <a:solidFill>
                  <a:srgbClr val="475569"/>
                </a:solidFill>
              </a:rPr>
              <a:t>HOG ACC</a:t>
            </a:r>
          </a:p>
          <a:p>
            <a:pPr algn="ctr"/>
            <a:r>
              <a:rPr sz="1100" b="1">
                <a:solidFill>
                  <a:srgbClr val="1D4ED8"/>
                </a:solidFill>
              </a:rPr>
              <a:t>84.23%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51149" y="5678424"/>
            <a:ext cx="1236726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387725" y="5715000"/>
            <a:ext cx="1163574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1">
                <a:solidFill>
                  <a:srgbClr val="475569"/>
                </a:solidFill>
              </a:rPr>
              <a:t>SHIRT RECALL</a:t>
            </a:r>
          </a:p>
          <a:p>
            <a:pPr algn="ctr"/>
            <a:r>
              <a:rPr sz="1100" b="1">
                <a:solidFill>
                  <a:srgbClr val="B91C1C"/>
                </a:solidFill>
              </a:rPr>
              <a:t>50.7% 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61027" y="5678424"/>
            <a:ext cx="1236726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97603" y="5715000"/>
            <a:ext cx="1163574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1" dirty="0">
                <a:solidFill>
                  <a:srgbClr val="475569"/>
                </a:solidFill>
              </a:rPr>
              <a:t>LATENCY</a:t>
            </a:r>
          </a:p>
          <a:p>
            <a:pPr algn="ctr"/>
            <a:r>
              <a:rPr sz="1100" b="1" dirty="0">
                <a:solidFill>
                  <a:srgbClr val="15803D"/>
                </a:solidFill>
              </a:rPr>
              <a:t>0.0006 ms 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91072" y="1051560"/>
            <a:ext cx="5166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>
                <a:solidFill>
                  <a:srgbClr val="1D4ED8"/>
                </a:solidFill>
                <a:latin typeface="Calibri"/>
              </a:rPr>
              <a:t>Linear SVM Test Confusion Matrix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91072" y="1289304"/>
            <a:ext cx="5166360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svm_pixels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2841" y="1371600"/>
            <a:ext cx="4662820" cy="4114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91072" y="5522976"/>
            <a:ext cx="5166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i="1">
                <a:solidFill>
                  <a:srgbClr val="475569"/>
                </a:solidFill>
              </a:rPr>
              <a:t>Fig 6: Full 10×10 confusion matrix on held-out test set (SVM on Pixels)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4124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dirty="0">
                <a:solidFill>
                  <a:srgbClr val="93C5FD"/>
                </a:solidFill>
                <a:latin typeface="Calibri"/>
              </a:rPr>
              <a:t>IMAGE-TAGGING AML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dirty="0">
                <a:solidFill>
                  <a:srgbClr val="FFFFFF"/>
                </a:solidFill>
                <a:latin typeface="Calibri"/>
              </a:rPr>
              <a:t>Master AML Benchmark: Cross-Model Comparison Across 8 Configurations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097280"/>
          <a:ext cx="10725912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58775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251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Model Family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Feature Space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Test Accuracy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Macro F1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Shirt Recall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Inference Latency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Model Complexity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51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D4ED8"/>
                          </a:solidFill>
                        </a:rPr>
                        <a:t>Random Forest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F172A"/>
                          </a:solidFill>
                        </a:rPr>
                        <a:t>Pixels (784)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5803D"/>
                          </a:solidFill>
                        </a:rPr>
                        <a:t>87.43% ★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5803D"/>
                          </a:solidFill>
                        </a:rPr>
                        <a:t>87.31% ★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F172A"/>
                          </a:solidFill>
                        </a:rPr>
                        <a:t>59.3%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dirty="0">
                          <a:solidFill>
                            <a:srgbClr val="0F172A"/>
                          </a:solidFill>
                        </a:rPr>
                        <a:t>0.026 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F172A"/>
                          </a:solidFill>
                        </a:rPr>
                        <a:t>1,693,570 tree nodes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51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D4ED8"/>
                          </a:solidFill>
                        </a:rPr>
                        <a:t>Random Forest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F172A"/>
                          </a:solidFill>
                        </a:rPr>
                        <a:t>HOG (324)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F172A"/>
                          </a:solidFill>
                        </a:rPr>
                        <a:t>84.35%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F172A"/>
                          </a:solidFill>
                        </a:rPr>
                        <a:t>84.30%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F172A"/>
                          </a:solidFill>
                        </a:rPr>
                        <a:t>59.4%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dirty="0">
                          <a:solidFill>
                            <a:srgbClr val="0F172A"/>
                          </a:solidFill>
                        </a:rPr>
                        <a:t>0.029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F172A"/>
                          </a:solidFill>
                        </a:rPr>
                        <a:t>2,458,016 tree nodes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51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D4ED8"/>
                          </a:solidFill>
                        </a:rPr>
                        <a:t>k-NN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F172A"/>
                          </a:solidFill>
                        </a:rPr>
                        <a:t>Pixels (784)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F172A"/>
                          </a:solidFill>
                        </a:rPr>
                        <a:t>85.41%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F172A"/>
                          </a:solidFill>
                        </a:rPr>
                        <a:t>85.40%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F172A"/>
                          </a:solidFill>
                        </a:rPr>
                        <a:t>60.2%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dirty="0">
                          <a:solidFill>
                            <a:srgbClr val="B91C1C"/>
                          </a:solidFill>
                        </a:rPr>
                        <a:t>0.274 ms ⚠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F172A"/>
                          </a:solidFill>
                        </a:rPr>
                        <a:t>179.44 MiB (RAM)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51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D4ED8"/>
                          </a:solidFill>
                        </a:rPr>
                        <a:t>k-NN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F172A"/>
                          </a:solidFill>
                        </a:rPr>
                        <a:t>HOG (324)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F172A"/>
                          </a:solidFill>
                        </a:rPr>
                        <a:t>83.84%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F172A"/>
                          </a:solidFill>
                        </a:rPr>
                        <a:t>83.85%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5803D"/>
                          </a:solidFill>
                        </a:rPr>
                        <a:t>62.6% 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dirty="0">
                          <a:solidFill>
                            <a:srgbClr val="0F172A"/>
                          </a:solidFill>
                        </a:rPr>
                        <a:t>0.098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F172A"/>
                          </a:solidFill>
                        </a:rPr>
                        <a:t>74.16 MiB (RAM)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51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D4ED8"/>
                          </a:solidFill>
                        </a:rPr>
                        <a:t>Logistic Regression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F172A"/>
                          </a:solidFill>
                        </a:rPr>
                        <a:t>Pixels (784)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F172A"/>
                          </a:solidFill>
                        </a:rPr>
                        <a:t>84.32%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F172A"/>
                          </a:solidFill>
                        </a:rPr>
                        <a:t>84.24%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F172A"/>
                          </a:solidFill>
                        </a:rPr>
                        <a:t>57.1%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dirty="0">
                          <a:solidFill>
                            <a:srgbClr val="0F172A"/>
                          </a:solidFill>
                        </a:rPr>
                        <a:t>0.0007 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F172A"/>
                          </a:solidFill>
                        </a:rPr>
                        <a:t>7,850 weights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51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D4ED8"/>
                          </a:solidFill>
                        </a:rPr>
                        <a:t>Logistic Regression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F172A"/>
                          </a:solidFill>
                        </a:rPr>
                        <a:t>HOG (324)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F172A"/>
                          </a:solidFill>
                        </a:rPr>
                        <a:t>84.55%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F172A"/>
                          </a:solidFill>
                        </a:rPr>
                        <a:t>84.49%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F172A"/>
                          </a:solidFill>
                        </a:rPr>
                        <a:t>57.8%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dirty="0">
                          <a:solidFill>
                            <a:srgbClr val="0F172A"/>
                          </a:solidFill>
                        </a:rPr>
                        <a:t>0.0004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F172A"/>
                          </a:solidFill>
                        </a:rPr>
                        <a:t>3,250 weights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51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D4ED8"/>
                          </a:solidFill>
                        </a:rPr>
                        <a:t>Linear SVM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F172A"/>
                          </a:solidFill>
                        </a:rPr>
                        <a:t>Pixels (784)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F172A"/>
                          </a:solidFill>
                        </a:rPr>
                        <a:t>83.80%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F172A"/>
                          </a:solidFill>
                        </a:rPr>
                        <a:t>83.57%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B91C1C"/>
                          </a:solidFill>
                        </a:rPr>
                        <a:t>50.7% ⚠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dirty="0">
                          <a:solidFill>
                            <a:srgbClr val="0F172A"/>
                          </a:solidFill>
                        </a:rPr>
                        <a:t>0.0013 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F172A"/>
                          </a:solidFill>
                        </a:rPr>
                        <a:t>7,850 weights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51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D4ED8"/>
                          </a:solidFill>
                        </a:rPr>
                        <a:t>Linear SVM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F172A"/>
                          </a:solidFill>
                        </a:rPr>
                        <a:t>HOG (324)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F172A"/>
                          </a:solidFill>
                        </a:rPr>
                        <a:t>84.23%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F172A"/>
                          </a:solidFill>
                        </a:rPr>
                        <a:t>84.06%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F172A"/>
                          </a:solidFill>
                        </a:rPr>
                        <a:t>54.6%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dirty="0">
                          <a:solidFill>
                            <a:srgbClr val="15803D"/>
                          </a:solidFill>
                        </a:rPr>
                        <a:t>0.0006 ms 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0F172A"/>
                          </a:solidFill>
                        </a:rPr>
                        <a:t>3,250 weights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" y="4206240"/>
            <a:ext cx="3453384" cy="1645920"/>
          </a:xfrm>
          <a:prstGeom prst="rect">
            <a:avLst/>
          </a:prstGeom>
          <a:solidFill>
            <a:srgbClr val="F1F5F9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" y="4279392"/>
            <a:ext cx="3233928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D4ED8"/>
                </a:solidFill>
              </a:rPr>
              <a:t>The Overall Accuracy Ceiling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526280"/>
            <a:ext cx="323392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0F172A"/>
                </a:solidFill>
              </a:rPr>
              <a:t>Performance plateaus between 83.8% and 87.4% across all 4 distinct algorithmic paradigms. Increasing model parameters from 3,250 to 2.4 million nodes yields less than a 3.1% accuracy gain.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7784" y="4206240"/>
            <a:ext cx="3453384" cy="1645920"/>
          </a:xfrm>
          <a:prstGeom prst="rect">
            <a:avLst/>
          </a:prstGeom>
          <a:solidFill>
            <a:srgbClr val="F1F5F9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77512" y="4279392"/>
            <a:ext cx="3233928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D4ED8"/>
                </a:solidFill>
              </a:rPr>
              <a:t>The Latency &amp; Memory Trade-Off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7512" y="4526280"/>
            <a:ext cx="323392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dirty="0">
                <a:solidFill>
                  <a:srgbClr val="0F172A"/>
                </a:solidFill>
              </a:rPr>
              <a:t>Linear models (SVM, LogReg) infer in under 0.001 ms with micro-sized parameter footprints. Non-parametric k-NN requires 100–450× longer and stores up to 179 MiB in active RAM.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4048" y="4206240"/>
            <a:ext cx="3453384" cy="1645920"/>
          </a:xfrm>
          <a:prstGeom prst="rect">
            <a:avLst/>
          </a:prstGeom>
          <a:solidFill>
            <a:srgbClr val="F1F5F9"/>
          </a:solidFill>
          <a:ln w="1270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13776" y="4279392"/>
            <a:ext cx="3233928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B91C1C"/>
                </a:solidFill>
              </a:rPr>
              <a:t>The Universal Failure: Shirt Recall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13776" y="4526280"/>
            <a:ext cx="323392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0F172A"/>
                </a:solidFill>
              </a:rPr>
              <a:t>Regardless of whether the classifier uses linear hyperplanes, non-linear decision forests, or neighborhood voting, Shirt recall is universally trapped between 50.7% and 62.6%.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4124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dirty="0">
                <a:solidFill>
                  <a:srgbClr val="93C5FD"/>
                </a:solidFill>
                <a:latin typeface="Calibri"/>
              </a:rPr>
              <a:t>IMAGE-TAGGING AML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Calibri"/>
              </a:rPr>
              <a:t>Error Analysis: "The Gap" &amp; Upper-Body Confusion Cluster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051560"/>
            <a:ext cx="5166360" cy="731520"/>
          </a:xfrm>
          <a:prstGeom prst="rect">
            <a:avLst/>
          </a:prstGeom>
          <a:solidFill>
            <a:srgbClr val="F1F5F9"/>
          </a:solidFill>
          <a:ln w="1270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106424"/>
            <a:ext cx="5166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>
                <a:solidFill>
                  <a:srgbClr val="B91C1C"/>
                </a:solidFill>
                <a:latin typeface="Calibri"/>
              </a:rPr>
              <a:t>35-PERCENTAGE-POINT RECALL CHASM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1344168"/>
            <a:ext cx="5166360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8" y="1344168"/>
            <a:ext cx="4946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172A"/>
                </a:solidFill>
              </a:rPr>
              <a:t>Structured items (Trousers, Bags, Footwear) reliably achieve 92.6% to 97.3% recall.
Shirt recall universally collapses to 50.7%–62.6% across ALL 8 tested configurations.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393" y="2028281"/>
            <a:ext cx="5166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dirty="0">
                <a:solidFill>
                  <a:srgbClr val="1D4ED8"/>
                </a:solidFill>
                <a:latin typeface="Calibri"/>
              </a:rPr>
              <a:t>Quantified Directional Confusion Flows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393" y="2321270"/>
            <a:ext cx="5166360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0952219"/>
              </p:ext>
            </p:extLst>
          </p:nvPr>
        </p:nvGraphicFramePr>
        <p:xfrm>
          <a:off x="731393" y="2357846"/>
          <a:ext cx="5166360" cy="1636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</a:rPr>
                        <a:t>Misclassification Path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</a:rPr>
                        <a:t>Rate Range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</a:rPr>
                        <a:t>Underlying Visual Mechanism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B91C1C"/>
                          </a:solidFill>
                        </a:rPr>
                        <a:t>Shirt → T-shirt/top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D4ED8"/>
                          </a:solidFill>
                        </a:rPr>
                        <a:t>13.1% – 16.6%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Short-sleeve tops lack visible collar height at 28×28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B91C1C"/>
                          </a:solidFill>
                        </a:rPr>
                        <a:t>Shirt → Pullover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D4ED8"/>
                          </a:solidFill>
                        </a:rPr>
                        <a:t>8.2% – 14.2%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Long-sleeve button-downs share identical torso mass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B91C1C"/>
                          </a:solidFill>
                        </a:rPr>
                        <a:t>Shirt → Coat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D4ED8"/>
                          </a:solidFill>
                        </a:rPr>
                        <a:t>7.5% – 11.4%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Heavy weaves &amp; dark plackets mimic outerwear lapels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B91C1C"/>
                          </a:solidFill>
                        </a:rPr>
                        <a:t>Pullover → Coat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D4ED8"/>
                          </a:solidFill>
                        </a:rPr>
                        <a:t>8.4% – 16.8%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Cardigans and sweaters mirror open coat fronts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731520" y="4212772"/>
            <a:ext cx="5166360" cy="1920240"/>
          </a:xfrm>
          <a:prstGeom prst="rect">
            <a:avLst/>
          </a:prstGeom>
          <a:solidFill>
            <a:srgbClr val="F1F5F9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1248" y="4304212"/>
            <a:ext cx="5166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>
                <a:solidFill>
                  <a:srgbClr val="1D4ED8"/>
                </a:solidFill>
                <a:latin typeface="Calibri"/>
              </a:rPr>
              <a:t>The Physical Resolution &amp; Pooling Bottleneck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4624252"/>
            <a:ext cx="4946904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050">
                <a:solidFill>
                  <a:srgbClr val="0F172A"/>
                </a:solidFill>
                <a:latin typeface="Calibri"/>
              </a:rPr>
              <a:t>•  Total Upper-Body Confusion: 32.3% to 41.0% of ALL shirts are misclassified into other tops.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0F172A"/>
                </a:solidFill>
                <a:latin typeface="Calibri"/>
              </a:rPr>
              <a:t>•  Physical Pixel Limit: At 28×28 resolution, collar points and button plackets span only 1–2 pixels.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0F172A"/>
                </a:solidFill>
                <a:latin typeface="Calibri"/>
              </a:rPr>
              <a:t>•  Spatial Averaging: 7×7 HOG cell pooling completely blurs away sub-pixel collar edges.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0F172A"/>
                </a:solidFill>
                <a:latin typeface="Calibri"/>
              </a:rPr>
              <a:t>•  Conclusion: Handcrafted feature extraction mathematically erases the discriminative signal.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1072" y="1051560"/>
            <a:ext cx="5166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>
                <a:solidFill>
                  <a:srgbClr val="1D4ED8"/>
                </a:solidFill>
                <a:latin typeface="Calibri"/>
              </a:rPr>
              <a:t>Empirical Confusion 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91072" y="1289304"/>
            <a:ext cx="5166360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svm_pixels_upper_body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3633" y="1371600"/>
            <a:ext cx="2421236" cy="20116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291072" y="3419856"/>
            <a:ext cx="5166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i="1">
                <a:solidFill>
                  <a:srgbClr val="475569"/>
                </a:solidFill>
              </a:rPr>
              <a:t>Fig 7a: Upper-body 4×4 confusion sub-matrix (SVM on raw pixels)</a:t>
            </a:r>
          </a:p>
        </p:txBody>
      </p:sp>
      <p:pic>
        <p:nvPicPr>
          <p:cNvPr id="21" name="Picture 20" descr="svm_pixels_6_as_0_galle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3994341"/>
            <a:ext cx="5166360" cy="133819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91072" y="5705856"/>
            <a:ext cx="5166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i="1">
                <a:solidFill>
                  <a:srgbClr val="475569"/>
                </a:solidFill>
              </a:rPr>
              <a:t>Fig 7b: Gallery of Shirt instances consistently misclassified as T-shirts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4124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dirty="0">
                <a:solidFill>
                  <a:srgbClr val="93C5FD"/>
                </a:solidFill>
                <a:latin typeface="Calibri"/>
              </a:rPr>
              <a:t>IMAGE-TAGGING AML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Calibri"/>
              </a:rPr>
              <a:t>Representation Limits &amp; The Phase 2 CNN Bridge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051560"/>
            <a:ext cx="5166360" cy="2194560"/>
          </a:xfrm>
          <a:prstGeom prst="rect">
            <a:avLst/>
          </a:prstGeom>
          <a:solidFill>
            <a:srgbClr val="F1F5F9"/>
          </a:solidFill>
          <a:ln w="1270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124712"/>
            <a:ext cx="5166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>
                <a:solidFill>
                  <a:srgbClr val="B91C1C"/>
                </a:solidFill>
                <a:latin typeface="Calibri"/>
              </a:rPr>
              <a:t>Why Phase 1 Handcrafted Features Hit a Wall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417320"/>
            <a:ext cx="494690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050">
                <a:solidFill>
                  <a:srgbClr val="0F172A"/>
                </a:solidFill>
                <a:latin typeface="Calibri"/>
              </a:rPr>
              <a:t>•  Pixel Flattening Destroys Adjacency: Converting 28×28 images into 784-d vectors destroys spatial locality. A 1-pixel shift completely alters the input vector.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0F172A"/>
                </a:solidFill>
                <a:latin typeface="Calibri"/>
              </a:rPr>
              <a:t>•  HOG Cell Pooling Blurs Collar Details: Averaging gradient energy across 7×7 cells (49 pixels) completely eliminates 1–2 pixel collar tips and buttons.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0F172A"/>
                </a:solidFill>
                <a:latin typeface="Calibri"/>
              </a:rPr>
              <a:t>•  Rigid Decision Boundaries: Hyperplanes and orthogonal tree splits cannot separate classes whose features physically overlap in coordinate space.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91072" y="1051560"/>
            <a:ext cx="5166360" cy="2194560"/>
          </a:xfrm>
          <a:prstGeom prst="rect">
            <a:avLst/>
          </a:prstGeom>
          <a:solidFill>
            <a:srgbClr val="F1F5F9"/>
          </a:solidFill>
          <a:ln w="1270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124712"/>
            <a:ext cx="5166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>
                <a:solidFill>
                  <a:srgbClr val="15803D"/>
                </a:solidFill>
                <a:latin typeface="Calibri"/>
              </a:rPr>
              <a:t>Why a Small CNN Resolves This (Phase 2)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417320"/>
            <a:ext cx="494690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050">
                <a:solidFill>
                  <a:srgbClr val="0F172A"/>
                </a:solidFill>
                <a:latin typeface="Calibri"/>
              </a:rPr>
              <a:t>•  Local Receptive Fields (3×3): Maintains 2D spatial relationships between adjacent pixels without vector flattening.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0F172A"/>
                </a:solidFill>
                <a:latin typeface="Calibri"/>
              </a:rPr>
              <a:t>•  Weight Sharing &amp; Equivariance: Detects collar contours and placket seams consistently regardless of position on the canvas.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0F172A"/>
                </a:solidFill>
                <a:latin typeface="Calibri"/>
              </a:rPr>
              <a:t>•  Hierarchical Feature Learning: Backpropagation trains filters automatically from edges → textures → garment parts, directly minimizing cross-entropy.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715789"/>
            <a:ext cx="10725912" cy="2331720"/>
          </a:xfrm>
          <a:prstGeom prst="rect">
            <a:avLst/>
          </a:prstGeom>
          <a:solidFill>
            <a:srgbClr val="F1F5F9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3807229"/>
            <a:ext cx="5166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>
                <a:solidFill>
                  <a:srgbClr val="1D4ED8"/>
                </a:solidFill>
                <a:latin typeface="Calibri"/>
              </a:rPr>
              <a:t>Auditable Phase 2 Quantitative Success Criteria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044973"/>
            <a:ext cx="5166360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68680" y="4063261"/>
            <a:ext cx="3453384" cy="1280160"/>
          </a:xfrm>
          <a:prstGeom prst="rect">
            <a:avLst/>
          </a:prstGeom>
          <a:solidFill>
            <a:srgbClr val="F8FAFC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41832" y="4118125"/>
            <a:ext cx="3307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475569"/>
                </a:solidFill>
              </a:rPr>
              <a:t>TARGET 1: SHIRT RECALL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4319293"/>
            <a:ext cx="3307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1D4ED8"/>
                </a:solidFill>
              </a:rPr>
              <a:t>≥ 80.0%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" y="4685053"/>
            <a:ext cx="3307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0F172A"/>
                </a:solidFill>
              </a:rPr>
              <a:t>Elevate Shirt recall from Phase 1's 50.7%–62.6% ceiling to ≥ 80.0%, closing the 35% gap with structured categories.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95216" y="4063261"/>
            <a:ext cx="3453384" cy="1280160"/>
          </a:xfrm>
          <a:prstGeom prst="rect">
            <a:avLst/>
          </a:prstGeom>
          <a:solidFill>
            <a:srgbClr val="F8FAFC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68368" y="4118125"/>
            <a:ext cx="3307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475569"/>
                </a:solidFill>
              </a:rPr>
              <a:t>TARGET 2: UPPER-BODY CONFUSION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68368" y="4319293"/>
            <a:ext cx="3307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1D4ED8"/>
                </a:solidFill>
              </a:rPr>
              <a:t>&lt; 15.0%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68368" y="4685053"/>
            <a:ext cx="3307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0F172A"/>
                </a:solidFill>
              </a:rPr>
              <a:t>Reduce cross-category confusion of Shirts into T-shirts, Pullovers, and Coats from 32%–41% down below 15.0%.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1752" y="4063261"/>
            <a:ext cx="3453384" cy="1280160"/>
          </a:xfrm>
          <a:prstGeom prst="rect">
            <a:avLst/>
          </a:prstGeom>
          <a:solidFill>
            <a:srgbClr val="F8FAFC"/>
          </a:solidFill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94904" y="4118125"/>
            <a:ext cx="3307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475569"/>
                </a:solidFill>
              </a:rPr>
              <a:t>TARGET 3: OVERALL MACRO F1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94904" y="4319293"/>
            <a:ext cx="3307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15803D"/>
                </a:solidFill>
              </a:rPr>
              <a:t>≥ 91.0%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94904" y="4685053"/>
            <a:ext cx="3307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0F172A"/>
                </a:solidFill>
              </a:rPr>
              <a:t>Lift overall test Macro F1 from 84.5%–87.3% to ≥ 91.0% on the exact same held-out 10,000-image test set.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5453149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i="1">
                <a:solidFill>
                  <a:srgbClr val="1D4ED8"/>
                </a:solidFill>
              </a:rPr>
              <a:t>Key Takeaway: Phase 1 provides audited empirical proof that the performance ceiling is set by handcrafted feature representations, not classifier model capacity. Phase 2 leverages spatial convolutions to learn optimal filters directly.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2622</Words>
  <Application>Microsoft Macintosh PowerPoint</Application>
  <PresentationFormat>Custom</PresentationFormat>
  <Paragraphs>313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Vipul Sharma</cp:lastModifiedBy>
  <cp:revision>4</cp:revision>
  <dcterms:created xsi:type="dcterms:W3CDTF">2013-01-27T09:14:16Z</dcterms:created>
  <dcterms:modified xsi:type="dcterms:W3CDTF">2026-10-28T13:05:36Z</dcterms:modified>
  <cp:category/>
</cp:coreProperties>
</file>